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5" r:id="rId5"/>
    <p:sldId id="259" r:id="rId6"/>
    <p:sldId id="260" r:id="rId7"/>
    <p:sldId id="266" r:id="rId8"/>
    <p:sldId id="261" r:id="rId9"/>
    <p:sldId id="262" r:id="rId10"/>
    <p:sldId id="267" r:id="rId11"/>
    <p:sldId id="268" r:id="rId12"/>
    <p:sldId id="264" r:id="rId13"/>
    <p:sldId id="269" r:id="rId14"/>
    <p:sldId id="270" r:id="rId15"/>
    <p:sldId id="271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5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5789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88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27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930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214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1467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975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62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4595230" y="0"/>
            <a:ext cx="3692769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857500"/>
            <a:ext cx="13833230" cy="1504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40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COMPUTATIONAL </a:t>
            </a:r>
            <a:r>
              <a:rPr lang="en-US" sz="4000" b="1" dirty="0" smtClean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FRACTALS   </a:t>
            </a:r>
          </a:p>
          <a:p>
            <a:pPr>
              <a:lnSpc>
                <a:spcPct val="200000"/>
              </a:lnSpc>
            </a:pPr>
            <a:r>
              <a:rPr lang="en-US" sz="3200" dirty="0">
                <a:solidFill>
                  <a:schemeClr val="bg1"/>
                </a:solidFill>
              </a:rPr>
              <a:t> Bridging Indigenous Knowledge </a:t>
            </a:r>
            <a:r>
              <a:rPr lang="en-US" sz="3200" dirty="0" smtClean="0">
                <a:solidFill>
                  <a:schemeClr val="bg1"/>
                </a:solidFill>
              </a:rPr>
              <a:t>and Modern </a:t>
            </a:r>
            <a:r>
              <a:rPr lang="en-US" sz="3200" dirty="0">
                <a:solidFill>
                  <a:schemeClr val="bg1"/>
                </a:solidFill>
              </a:rPr>
              <a:t>Algorithmic Thinking</a:t>
            </a:r>
            <a:r>
              <a:rPr lang="en-US" sz="3200" b="1" dirty="0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</a:t>
            </a:r>
            <a:endParaRPr lang="en-US" sz="3200" b="1" dirty="0">
              <a:solidFill>
                <a:schemeClr val="bg1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3200" dirty="0" smtClean="0">
                <a:solidFill>
                  <a:schemeClr val="bg1"/>
                </a:solidFill>
              </a:rPr>
              <a:t> SHARON MAKA 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762000" y="5300662"/>
            <a:ext cx="71437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D4AF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Lessons from African Design Systems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476500"/>
            <a:ext cx="9525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2857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01. INTRODUCTION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310640" y="1704975"/>
            <a:ext cx="7620000" cy="1171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CULTURE MEETS COMPUTING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857500"/>
            <a:ext cx="16764000" cy="1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3429000"/>
            <a:ext cx="7620000" cy="447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Tradition Informs Technology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61999" y="4572000"/>
            <a:ext cx="11158451" cy="1466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>
              <a:lnSpc>
                <a:spcPct val="250000"/>
              </a:lnSpc>
            </a:pPr>
            <a:r>
              <a:rPr lang="en-US" sz="2400" b="1" dirty="0">
                <a:solidFill>
                  <a:schemeClr val="bg1"/>
                </a:solidFill>
              </a:rPr>
              <a:t>Core Idea:</a:t>
            </a:r>
            <a:r>
              <a:rPr lang="en-US" sz="2400" dirty="0">
                <a:solidFill>
                  <a:schemeClr val="bg1"/>
                </a:solidFill>
              </a:rPr>
              <a:t> This presentation explores how African traditional design principles prefigured and can inspire modern computational concepts.</a:t>
            </a:r>
          </a:p>
          <a:p>
            <a:pPr lvl="1">
              <a:lnSpc>
                <a:spcPct val="250000"/>
              </a:lnSpc>
            </a:pPr>
            <a:r>
              <a:rPr lang="en-US" sz="2400" b="1" dirty="0">
                <a:solidFill>
                  <a:schemeClr val="bg1"/>
                </a:solidFill>
              </a:rPr>
              <a:t>Thesis:</a:t>
            </a:r>
            <a:r>
              <a:rPr lang="en-US" sz="2400" dirty="0">
                <a:solidFill>
                  <a:schemeClr val="bg1"/>
                </a:solidFill>
              </a:rPr>
              <a:t> Fractal patterns are not merely artistic; they are </a:t>
            </a:r>
            <a:r>
              <a:rPr lang="en-US" sz="2400" b="1" dirty="0">
                <a:solidFill>
                  <a:schemeClr val="bg1"/>
                </a:solidFill>
              </a:rPr>
              <a:t>visual algorithms</a:t>
            </a:r>
            <a:r>
              <a:rPr lang="en-US" sz="2400" dirty="0">
                <a:solidFill>
                  <a:schemeClr val="bg1"/>
                </a:solidFill>
              </a:rPr>
              <a:t>—systematic, rule-based processes for creating complex, scalable structures.</a:t>
            </a:r>
          </a:p>
          <a:p>
            <a:pPr lvl="1">
              <a:lnSpc>
                <a:spcPct val="250000"/>
              </a:lnSpc>
            </a:pPr>
            <a:r>
              <a:rPr lang="en-US" sz="2400" b="1" dirty="0">
                <a:solidFill>
                  <a:schemeClr val="bg1"/>
                </a:solidFill>
              </a:rPr>
              <a:t>Key Question:</a:t>
            </a:r>
            <a:r>
              <a:rPr lang="en-US" sz="2400" dirty="0">
                <a:solidFill>
                  <a:schemeClr val="bg1"/>
                </a:solidFill>
              </a:rPr>
              <a:t> What can centuries-old indigenous knowledge teach us about solving today's computing challenges in graphics, networks, and data?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2857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02. DEFINITION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14300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MATHEMATICS OF SELF-SIMILARITY</a:t>
            </a:r>
            <a:endParaRPr lang="en-US" sz="4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048000"/>
            <a:ext cx="4762500" cy="952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3174023"/>
            <a:ext cx="4000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CONCEPTS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1612669" y="3890597"/>
            <a:ext cx="8379229" cy="3352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 </a:t>
            </a:r>
            <a:r>
              <a:rPr lang="en-US" sz="2000" dirty="0">
                <a:solidFill>
                  <a:schemeClr val="bg1"/>
                </a:solidFill>
              </a:rPr>
              <a:t>A fractal is a never-ending, infinitely complex pattern that is </a:t>
            </a:r>
            <a:r>
              <a:rPr lang="en-US" sz="2000" b="1" dirty="0">
                <a:solidFill>
                  <a:schemeClr val="bg1"/>
                </a:solidFill>
              </a:rPr>
              <a:t>self-similar</a:t>
            </a:r>
            <a:r>
              <a:rPr lang="en-US" sz="2000" dirty="0">
                <a:solidFill>
                  <a:schemeClr val="bg1"/>
                </a:solidFill>
              </a:rPr>
              <a:t> across different scales. A small part resembles the whole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sz="1650" dirty="0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dirty="0" smtClean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RECURSION</a:t>
            </a:r>
            <a:r>
              <a:rPr lang="en-US" sz="1650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process of repeating items in a self-similar way</a:t>
            </a:r>
            <a:r>
              <a:rPr lang="en-US" sz="1650" dirty="0" smtClean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ITERATION: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Repeating a process using the output of one step as the input for the next</a:t>
            </a:r>
            <a:r>
              <a:rPr lang="en-US" sz="1650" dirty="0" smtClean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UBIQUITY</a:t>
            </a:r>
            <a:r>
              <a:rPr lang="en-US" sz="1650" dirty="0" smtClean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16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 in nature (ferns, coastlines) and computer science.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2857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 smtClean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04. </a:t>
            </a:r>
            <a:r>
              <a:rPr lang="en-US" sz="1350" b="1" dirty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1718897"/>
            <a:ext cx="114300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4400" b="1" dirty="0" smtClean="0"/>
          </a:p>
          <a:p>
            <a:r>
              <a:rPr lang="en-US" sz="4400" dirty="0" smtClean="0">
                <a:solidFill>
                  <a:schemeClr val="bg1"/>
                </a:solidFill>
              </a:rPr>
              <a:t>Algorithms </a:t>
            </a:r>
            <a:r>
              <a:rPr lang="en-US" sz="4400" dirty="0">
                <a:solidFill>
                  <a:schemeClr val="bg1"/>
                </a:solidFill>
              </a:rPr>
              <a:t>Before Computers</a:t>
            </a:r>
            <a:br>
              <a:rPr lang="en-US" sz="4400" dirty="0">
                <a:solidFill>
                  <a:schemeClr val="bg1"/>
                </a:solidFill>
              </a:rPr>
            </a:br>
            <a:endParaRPr lang="en-US" sz="4200" dirty="0">
              <a:solidFill>
                <a:schemeClr val="bg1"/>
              </a:solidFill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048000"/>
            <a:ext cx="4762500" cy="952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3174023"/>
            <a:ext cx="4000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CONCEPTS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1612669" y="4081097"/>
            <a:ext cx="8379229" cy="3352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endParaRPr lang="en-US" sz="1650" dirty="0"/>
          </a:p>
        </p:txBody>
      </p:sp>
      <p:sp>
        <p:nvSpPr>
          <p:cNvPr id="4" name="Rectangle 3"/>
          <p:cNvSpPr/>
          <p:nvPr/>
        </p:nvSpPr>
        <p:spPr>
          <a:xfrm>
            <a:off x="1447800" y="3881803"/>
            <a:ext cx="9144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9FAFB"/>
                </a:solidFill>
                <a:latin typeface="quote-cjk-patch"/>
              </a:rPr>
              <a:t>Indigenous knowledge systems often encode step-by-step, repeatable procedures—the essence of an </a:t>
            </a:r>
            <a:r>
              <a:rPr lang="en-US" sz="2000" b="1" dirty="0">
                <a:solidFill>
                  <a:srgbClr val="F9FAFB"/>
                </a:solidFill>
                <a:latin typeface="quote-cjk-patch"/>
              </a:rPr>
              <a:t>algorithm</a:t>
            </a:r>
            <a:r>
              <a:rPr lang="en-US" sz="2000" dirty="0">
                <a:solidFill>
                  <a:srgbClr val="F9FAFB"/>
                </a:solidFill>
                <a:latin typeface="quote-cjk-patch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9FAFB"/>
                </a:solidFill>
                <a:latin typeface="quote-cjk-patch"/>
              </a:rPr>
              <a:t>Examples:</a:t>
            </a:r>
            <a:endParaRPr lang="en-US" sz="2000" dirty="0">
              <a:solidFill>
                <a:srgbClr val="F9FAFB"/>
              </a:solidFill>
              <a:latin typeface="quote-cjk-patch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9FAFB"/>
                </a:solidFill>
                <a:latin typeface="quote-cjk-patch"/>
              </a:rPr>
              <a:t>Village Layout:</a:t>
            </a:r>
            <a:r>
              <a:rPr lang="en-US" sz="2000" dirty="0">
                <a:solidFill>
                  <a:srgbClr val="F9FAFB"/>
                </a:solidFill>
                <a:latin typeface="quote-cjk-patch"/>
              </a:rPr>
              <a:t> Rules for placing huts around a central circle, then compounds around that.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9FAFB"/>
                </a:solidFill>
                <a:latin typeface="quote-cjk-patch"/>
              </a:rPr>
              <a:t>Weaving/Textiles:</a:t>
            </a:r>
            <a:r>
              <a:rPr lang="en-US" sz="2000" dirty="0">
                <a:solidFill>
                  <a:srgbClr val="F9FAFB"/>
                </a:solidFill>
                <a:latin typeface="quote-cjk-patch"/>
              </a:rPr>
              <a:t> Precise sequences for threading to generate complex geometric patterns.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9FAFB"/>
                </a:solidFill>
                <a:latin typeface="quote-cjk-patch"/>
              </a:rPr>
              <a:t>Rituals &amp; Storytelling:</a:t>
            </a:r>
            <a:r>
              <a:rPr lang="en-US" sz="2000" dirty="0">
                <a:solidFill>
                  <a:srgbClr val="F9FAFB"/>
                </a:solidFill>
                <a:latin typeface="quote-cjk-patch"/>
              </a:rPr>
              <a:t> Repetitive, structured sequences of actions or narrative elements.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9FAFB"/>
                </a:solidFill>
                <a:latin typeface="quote-cjk-patch"/>
              </a:rPr>
              <a:t>The Link:</a:t>
            </a:r>
            <a:r>
              <a:rPr lang="en-US" sz="2000" dirty="0">
                <a:solidFill>
                  <a:srgbClr val="F9FAFB"/>
                </a:solidFill>
                <a:latin typeface="quote-cjk-patch"/>
              </a:rPr>
              <a:t> These processes mirror the core of programming: </a:t>
            </a:r>
            <a:r>
              <a:rPr lang="en-US" sz="2000" b="1" dirty="0">
                <a:solidFill>
                  <a:srgbClr val="F9FAFB"/>
                </a:solidFill>
                <a:latin typeface="quote-cjk-patch"/>
              </a:rPr>
              <a:t>INPUT (materials/concept) → PROCESS (repeatable rules) → OUTPUT (village, cloth, performance).</a:t>
            </a:r>
            <a:endParaRPr lang="en-US" sz="20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545408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2857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 smtClean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05. </a:t>
            </a:r>
            <a:r>
              <a:rPr lang="en-US" sz="1350" b="1" dirty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SYSTEMS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95250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SELF-SIMILARITY IN PRACTICE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62000" y="6762750"/>
            <a:ext cx="5334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BAMILEKE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7143750"/>
            <a:ext cx="5334000" cy="238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Scaled repetition in structural hierarchy.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77000" y="6762750"/>
            <a:ext cx="5334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MUD CLOTH (BOGOLAN)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77000" y="7143750"/>
            <a:ext cx="5334000" cy="238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Geometric blocks generated by recursive rules.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192000" y="6762750"/>
            <a:ext cx="5334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SONA SAND DRAWINGS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192000" y="7143750"/>
            <a:ext cx="5334000" cy="238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Algorithmic loops forming continuous Eulerian paths.</a:t>
            </a:r>
            <a:endParaRPr lang="en-US" sz="1350" dirty="0"/>
          </a:p>
        </p:txBody>
      </p:sp>
      <p:sp>
        <p:nvSpPr>
          <p:cNvPr id="10" name="Rectangle 9"/>
          <p:cNvSpPr/>
          <p:nvPr/>
        </p:nvSpPr>
        <p:spPr>
          <a:xfrm>
            <a:off x="571500" y="1832313"/>
            <a:ext cx="9144000" cy="300082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9FAFB"/>
                </a:solidFill>
                <a:latin typeface="quote-cjk-patch"/>
              </a:rPr>
              <a:t>African fractals are </a:t>
            </a:r>
            <a:r>
              <a:rPr lang="en-US" b="1" dirty="0">
                <a:solidFill>
                  <a:srgbClr val="F9FAFB"/>
                </a:solidFill>
                <a:latin typeface="quote-cjk-patch"/>
              </a:rPr>
              <a:t>social and aesthetic fractals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. They encode information about social organization, cosmology, and belonging.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9FAFB"/>
                </a:solidFill>
                <a:latin typeface="quote-cjk-patch"/>
              </a:rPr>
              <a:t>Characteristics:</a:t>
            </a:r>
            <a:endParaRPr lang="en-US" dirty="0">
              <a:solidFill>
                <a:srgbClr val="F9FAFB"/>
              </a:solidFill>
              <a:latin typeface="quote-cjk-patch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9FAFB"/>
                </a:solidFill>
                <a:latin typeface="quote-cjk-patch"/>
              </a:rPr>
              <a:t>Scaled Repetition: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 The same shape appears at the level of a stool's carving, a house's shape, and the village's overall plan.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9FAFB"/>
                </a:solidFill>
                <a:latin typeface="quote-cjk-patch"/>
              </a:rPr>
              <a:t>Recursion in Practice: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 The design rule for a single motif is applied to create the larger pattern.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2857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 smtClean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06. </a:t>
            </a:r>
            <a:r>
              <a:rPr lang="en-US" sz="1350" b="1" dirty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STRUCTURES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95250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HIERARCHY AS DATA STRUCTURE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4572000"/>
            <a:ext cx="7620000" cy="1905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0" y="2857500"/>
            <a:ext cx="19050" cy="17145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0" y="6477000"/>
            <a:ext cx="19050" cy="9525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58750" y="2667000"/>
            <a:ext cx="952500" cy="9525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2858750" y="3048000"/>
            <a:ext cx="952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</a:t>
            </a:r>
            <a:endParaRPr lang="en-US" sz="1500" dirty="0"/>
          </a:p>
        </p:txBody>
      </p:sp>
      <p:sp>
        <p:nvSpPr>
          <p:cNvPr id="9" name="Text 3"/>
          <p:cNvSpPr/>
          <p:nvPr/>
        </p:nvSpPr>
        <p:spPr>
          <a:xfrm>
            <a:off x="9906000" y="4953000"/>
            <a:ext cx="6667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Fractal Rule:</a:t>
            </a:r>
            <a:endParaRPr lang="en-US" sz="2400" dirty="0"/>
          </a:p>
        </p:txBody>
      </p:sp>
      <p:sp>
        <p:nvSpPr>
          <p:cNvPr id="10" name="Text 4"/>
          <p:cNvSpPr/>
          <p:nvPr/>
        </p:nvSpPr>
        <p:spPr>
          <a:xfrm>
            <a:off x="9906000" y="542925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Circular structures are nested within larger circular arrangements, mirroring a tree data structure (Root &gt; Branch &gt; Leaf).</a:t>
            </a:r>
            <a:endParaRPr lang="en-US" sz="1800" dirty="0"/>
          </a:p>
        </p:txBody>
      </p:sp>
      <p:pic>
        <p:nvPicPr>
          <p:cNvPr id="2050" name="Picture 2" descr="Fractal Trees – Basic L-System- Example 9.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33550"/>
            <a:ext cx="4724400" cy="8389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2857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 smtClean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07. </a:t>
            </a:r>
            <a:r>
              <a:rPr lang="en-US" sz="1350" b="1" dirty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STRUCTURES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1733550"/>
            <a:ext cx="95250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4800" dirty="0">
                <a:solidFill>
                  <a:schemeClr val="bg1"/>
                </a:solidFill>
              </a:rPr>
              <a:t> Iterative Design as a Living Algorithm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9" name="Text 3"/>
          <p:cNvSpPr/>
          <p:nvPr/>
        </p:nvSpPr>
        <p:spPr>
          <a:xfrm>
            <a:off x="9906000" y="4953000"/>
            <a:ext cx="6667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/>
          </a:p>
        </p:txBody>
      </p:sp>
      <p:sp>
        <p:nvSpPr>
          <p:cNvPr id="10" name="Text 4"/>
          <p:cNvSpPr/>
          <p:nvPr/>
        </p:nvSpPr>
        <p:spPr>
          <a:xfrm>
            <a:off x="9906000" y="542925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endParaRPr lang="en-US" sz="1800" dirty="0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419100" y="2712568"/>
            <a:ext cx="10020300" cy="405558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53958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Content: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F9FAFB"/>
              </a:solidFill>
              <a:effectLst/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The artist/artisan follows a 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mental algorithm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—a set of creative constraints and rules.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Process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b="1" dirty="0">
              <a:solidFill>
                <a:srgbClr val="F9FAFB"/>
              </a:solidFill>
              <a:latin typeface="quote-cjk-patch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.Breakdown (like a loop):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F9FAFB"/>
              </a:solidFill>
              <a:effectLst/>
              <a:latin typeface="quote-cjk-patch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rgbClr val="F9FAFB"/>
              </a:solidFill>
              <a:effectLst/>
              <a:latin typeface="quote-cjk-patch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Initialize: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Start with a base shape or line.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Iterate: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Apply a transformation rule (rotate, scale, translate).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Repeat: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Continue until the space is filled or the design is complete.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This mirrors a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var(--ds-font-family-code)"/>
              </a:rPr>
              <a:t>for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or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var(--ds-font-family-code)"/>
              </a:rPr>
              <a:t>while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loop in code, generating complexity from simplicity.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090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2857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 smtClean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08. </a:t>
            </a:r>
            <a:r>
              <a:rPr lang="en-US" sz="1350" b="1" dirty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ALGORITHMS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95250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0F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PATTERN TO CODE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67000"/>
            <a:ext cx="7620000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3500" y="3238500"/>
            <a:ext cx="6477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 draw_fractal(scale, depth):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333500" y="3810000"/>
            <a:ext cx="6477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if depth == 0: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333500" y="4381500"/>
            <a:ext cx="6477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D4AF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return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333500" y="4953000"/>
            <a:ext cx="6477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CCCCC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else: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333500" y="5524500"/>
            <a:ext cx="6477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draw_shape(scale)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333500" y="6096000"/>
            <a:ext cx="6477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draw_fractal(scale * 0.5, depth - 1)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62000" y="8572500"/>
            <a:ext cx="571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Translating visual rules into formal recursion.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857250" y="1333500"/>
            <a:ext cx="7620000" cy="876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1333500"/>
            <a:ext cx="2857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 smtClean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09. </a:t>
            </a:r>
            <a:r>
              <a:rPr lang="en-US" sz="1350" b="1" dirty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1333500" y="1905000"/>
            <a:ext cx="9753600" cy="1171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4400" dirty="0">
                <a:solidFill>
                  <a:schemeClr val="bg1"/>
                </a:solidFill>
              </a:rPr>
              <a:t>Direct Computational Correlations</a:t>
            </a:r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429000"/>
            <a:ext cx="952500" cy="57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33500" y="4000500"/>
            <a:ext cx="9163050" cy="1276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b="1" dirty="0" smtClean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smtClean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 smtClean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 smtClean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 smtClean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lang="en-US" sz="2000" b="1" dirty="0" smtClean="0">
                <a:solidFill>
                  <a:schemeClr val="bg1"/>
                </a:solidFill>
              </a:rPr>
              <a:t>Content:</a:t>
            </a:r>
            <a:endParaRPr lang="en-US" sz="2000" dirty="0">
              <a:solidFill>
                <a:schemeClr val="bg1"/>
              </a:solidFill>
            </a:endParaRPr>
          </a:p>
          <a:p>
            <a:pPr lvl="1">
              <a:lnSpc>
                <a:spcPct val="200000"/>
              </a:lnSpc>
            </a:pPr>
            <a:r>
              <a:rPr lang="en-US" sz="2000" b="1" dirty="0">
                <a:solidFill>
                  <a:schemeClr val="bg1"/>
                </a:solidFill>
              </a:rPr>
              <a:t>Recursion:</a:t>
            </a:r>
            <a:r>
              <a:rPr lang="en-US" sz="2000" dirty="0">
                <a:solidFill>
                  <a:schemeClr val="bg1"/>
                </a:solidFill>
              </a:rPr>
              <a:t> The fractal definition </a:t>
            </a:r>
            <a:r>
              <a:rPr lang="en-US" sz="2000" i="1" dirty="0">
                <a:solidFill>
                  <a:schemeClr val="bg1"/>
                </a:solidFill>
              </a:rPr>
              <a:t>is</a:t>
            </a:r>
            <a:r>
              <a:rPr lang="en-US" sz="2000" dirty="0">
                <a:solidFill>
                  <a:schemeClr val="bg1"/>
                </a:solidFill>
              </a:rPr>
              <a:t> recursion. Problem-solving by breaking into smaller, self-similar problems.</a:t>
            </a:r>
          </a:p>
          <a:p>
            <a:pPr lvl="1">
              <a:lnSpc>
                <a:spcPct val="200000"/>
              </a:lnSpc>
            </a:pPr>
            <a:r>
              <a:rPr lang="en-US" sz="2000" b="1" dirty="0">
                <a:solidFill>
                  <a:schemeClr val="bg1"/>
                </a:solidFill>
              </a:rPr>
              <a:t>Divide-and-Conquer:</a:t>
            </a:r>
            <a:r>
              <a:rPr lang="en-US" sz="2000" dirty="0">
                <a:solidFill>
                  <a:schemeClr val="bg1"/>
                </a:solidFill>
              </a:rPr>
              <a:t> Like a fractal village, algorithms like Merge Sort or Quicksort break data into hierarchical sub-parts.</a:t>
            </a:r>
          </a:p>
          <a:p>
            <a:pPr lvl="1">
              <a:lnSpc>
                <a:spcPct val="200000"/>
              </a:lnSpc>
            </a:pPr>
            <a:r>
              <a:rPr lang="en-US" sz="2000" b="1" dirty="0">
                <a:solidFill>
                  <a:schemeClr val="bg1"/>
                </a:solidFill>
              </a:rPr>
              <a:t>Efficiency &amp; Optimization:</a:t>
            </a:r>
            <a:r>
              <a:rPr lang="en-US" sz="2000" dirty="0">
                <a:solidFill>
                  <a:schemeClr val="bg1"/>
                </a:solidFill>
              </a:rPr>
              <a:t> Fractal layouts minimize distance and maximize space usage—analogous to optimizing network paths or memory allocation.</a:t>
            </a:r>
          </a:p>
          <a:p>
            <a:pPr marL="0" indent="0" algn="l">
              <a:lnSpc>
                <a:spcPct val="16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762000" y="762000"/>
            <a:ext cx="7620000" cy="876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1333500"/>
            <a:ext cx="2857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 smtClean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r>
              <a:rPr lang="en-US" sz="1350" b="1" dirty="0" smtClean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r>
              <a:rPr lang="en-US" sz="1350" b="1" dirty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1333500" y="1905000"/>
            <a:ext cx="9220200" cy="1171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4800" dirty="0">
                <a:solidFill>
                  <a:schemeClr val="bg1"/>
                </a:solidFill>
              </a:rPr>
              <a:t>Generating Realistic Complexity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429000"/>
            <a:ext cx="952500" cy="57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14500" y="4548187"/>
            <a:ext cx="8839200" cy="1095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endParaRPr lang="en-US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b="1" dirty="0">
              <a:solidFill>
                <a:schemeClr val="bg1"/>
              </a:solidFill>
            </a:endParaRPr>
          </a:p>
          <a:p>
            <a:pPr>
              <a:lnSpc>
                <a:spcPct val="250000"/>
              </a:lnSpc>
            </a:pPr>
            <a:r>
              <a:rPr lang="en-US" b="1" dirty="0" smtClean="0">
                <a:solidFill>
                  <a:schemeClr val="bg1"/>
                </a:solidFill>
              </a:rPr>
              <a:t>Content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lnSpc>
                <a:spcPct val="250000"/>
              </a:lnSpc>
            </a:pPr>
            <a:r>
              <a:rPr lang="en-US" b="1" dirty="0">
                <a:solidFill>
                  <a:schemeClr val="bg1"/>
                </a:solidFill>
              </a:rPr>
              <a:t>Procedural Generation:</a:t>
            </a:r>
            <a:r>
              <a:rPr lang="en-US" dirty="0">
                <a:solidFill>
                  <a:schemeClr val="bg1"/>
                </a:solidFill>
              </a:rPr>
              <a:t> Using algorithms (like fractal noise) to create content automatically.</a:t>
            </a:r>
          </a:p>
          <a:p>
            <a:pPr lvl="1">
              <a:lnSpc>
                <a:spcPct val="250000"/>
              </a:lnSpc>
            </a:pPr>
            <a:r>
              <a:rPr lang="en-US" b="1" dirty="0">
                <a:solidFill>
                  <a:schemeClr val="bg1"/>
                </a:solidFill>
              </a:rPr>
              <a:t>Inspired by</a:t>
            </a:r>
            <a:r>
              <a:rPr lang="en-US" dirty="0">
                <a:solidFill>
                  <a:schemeClr val="bg1"/>
                </a:solidFill>
              </a:rPr>
              <a:t> the way natural and cultural fractals build complexity from simple rules.</a:t>
            </a:r>
          </a:p>
          <a:p>
            <a:pPr lvl="1">
              <a:lnSpc>
                <a:spcPct val="250000"/>
              </a:lnSpc>
            </a:pPr>
            <a:r>
              <a:rPr lang="en-US" b="1" dirty="0">
                <a:solidFill>
                  <a:schemeClr val="bg1"/>
                </a:solidFill>
              </a:rPr>
              <a:t>Uses:</a:t>
            </a:r>
            <a:r>
              <a:rPr lang="en-US" dirty="0">
                <a:solidFill>
                  <a:schemeClr val="bg1"/>
                </a:solidFill>
              </a:rPr>
              <a:t> Creating infinitely variable, realistic </a:t>
            </a:r>
            <a:r>
              <a:rPr lang="en-US" b="1" dirty="0">
                <a:solidFill>
                  <a:schemeClr val="bg1"/>
                </a:solidFill>
              </a:rPr>
              <a:t>terrains, textures (wood, marble), foliage, and visual effects</a:t>
            </a:r>
            <a:r>
              <a:rPr lang="en-US" dirty="0">
                <a:solidFill>
                  <a:schemeClr val="bg1"/>
                </a:solidFill>
              </a:rPr>
              <a:t> in games and simulations.</a:t>
            </a:r>
          </a:p>
          <a:p>
            <a:pPr marL="0" indent="0" algn="l">
              <a:lnSpc>
                <a:spcPct val="160000"/>
              </a:lnSpc>
              <a:buNone/>
            </a:pP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333500" y="6096000"/>
            <a:ext cx="5715000" cy="1095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08644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8191500" y="4191000"/>
            <a:ext cx="1905000" cy="190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" y="1269641"/>
            <a:ext cx="12534900" cy="1466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chemeClr val="bg1"/>
                </a:solidFill>
              </a:rPr>
              <a:t>Building Resilient and Scalable Systems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" y="3638550"/>
            <a:ext cx="95250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lang="en-US" sz="2000" dirty="0" smtClean="0">
                <a:solidFill>
                  <a:schemeClr val="bg1"/>
                </a:solidFill>
              </a:rPr>
              <a:t>Fractal </a:t>
            </a:r>
            <a:r>
              <a:rPr lang="en-US" sz="2000" dirty="0">
                <a:solidFill>
                  <a:schemeClr val="bg1"/>
                </a:solidFill>
              </a:rPr>
              <a:t>hierarchies offer blueprints for robust networks.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chemeClr val="bg1"/>
                </a:solidFill>
              </a:rPr>
              <a:t>Benefits:</a:t>
            </a:r>
            <a:endParaRPr lang="en-US" sz="2000" dirty="0">
              <a:solidFill>
                <a:schemeClr val="bg1"/>
              </a:solidFill>
            </a:endParaRPr>
          </a:p>
          <a:p>
            <a:pPr lvl="1">
              <a:lnSpc>
                <a:spcPct val="200000"/>
              </a:lnSpc>
            </a:pPr>
            <a:r>
              <a:rPr lang="en-US" sz="2000" b="1" dirty="0">
                <a:solidFill>
                  <a:schemeClr val="bg1"/>
                </a:solidFill>
              </a:rPr>
              <a:t>Scalability:</a:t>
            </a:r>
            <a:r>
              <a:rPr lang="en-US" sz="2000" dirty="0">
                <a:solidFill>
                  <a:schemeClr val="bg1"/>
                </a:solidFill>
              </a:rPr>
              <a:t> Add new sub-networks (like new village compounds) without redesigning the whole system.</a:t>
            </a:r>
          </a:p>
          <a:p>
            <a:pPr lvl="1">
              <a:lnSpc>
                <a:spcPct val="200000"/>
              </a:lnSpc>
            </a:pPr>
            <a:r>
              <a:rPr lang="en-US" sz="2000" b="1" dirty="0">
                <a:solidFill>
                  <a:schemeClr val="bg1"/>
                </a:solidFill>
              </a:rPr>
              <a:t>Fault Tolerance:</a:t>
            </a:r>
            <a:r>
              <a:rPr lang="en-US" sz="2000" dirty="0">
                <a:solidFill>
                  <a:schemeClr val="bg1"/>
                </a:solidFill>
              </a:rPr>
              <a:t> Redundancy and localized control (if one "branch" fails, others persist).</a:t>
            </a:r>
          </a:p>
          <a:p>
            <a:pPr lvl="1">
              <a:lnSpc>
                <a:spcPct val="200000"/>
              </a:lnSpc>
            </a:pPr>
            <a:r>
              <a:rPr lang="en-US" sz="2000" b="1" dirty="0">
                <a:solidFill>
                  <a:schemeClr val="bg1"/>
                </a:solidFill>
              </a:rPr>
              <a:t>Efficient Routing:</a:t>
            </a:r>
            <a:r>
              <a:rPr lang="en-US" sz="2000" dirty="0">
                <a:solidFill>
                  <a:schemeClr val="bg1"/>
                </a:solidFill>
              </a:rPr>
              <a:t> Hierarchical addressing simplifies finding paths (like mail moving from country → city → street).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sz="2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0" y="7143750"/>
            <a:ext cx="952500" cy="38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25884"/>
            <a:ext cx="209544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 smtClean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 </a:t>
            </a:r>
            <a:r>
              <a:rPr lang="en-US" b="1" dirty="0">
                <a:solidFill>
                  <a:srgbClr val="00A8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282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61950" y="1636421"/>
            <a:ext cx="11106150" cy="6056128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53958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Organizing Information Hierarchically</a:t>
            </a:r>
          </a:p>
          <a:p>
            <a:pPr marL="457200" marR="0" lvl="1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The fractal principle of "self-similar hierarchy" is fundamental to computing.</a:t>
            </a:r>
          </a:p>
          <a:p>
            <a:pPr marL="457200" marR="0" lvl="1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Tree Structures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(Binary Trees, B-Trees): Mirrored in family lineages or organizational charts—perfect for fast search 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var(--ds-font-family-code)"/>
              </a:rPr>
              <a:t>O(log n)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Hierarchical &amp; Graph Databases: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Model relationships exactly like the interconnected nodes in a fractal social structure.</a:t>
            </a:r>
          </a:p>
          <a:p>
            <a:pPr marL="457200" marR="0" lvl="1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Indexing: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Creating smaller, self-similar lookup tables to find data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efficien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rgbClr val="F9FAFB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7350" y="800100"/>
            <a:ext cx="10020300" cy="7785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en-US" sz="4400" dirty="0">
                <a:solidFill>
                  <a:srgbClr val="F9FAFB"/>
                </a:solidFill>
                <a:latin typeface="quote-cjk-patch"/>
              </a:rPr>
              <a:t>Why This Recognition Matters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9FAFB"/>
                </a:solidFill>
                <a:latin typeface="quote-cjk-patch"/>
              </a:rPr>
              <a:t>Content:</a:t>
            </a:r>
            <a:endParaRPr lang="en-US" dirty="0">
              <a:solidFill>
                <a:srgbClr val="F9FAFB"/>
              </a:solidFill>
              <a:latin typeface="quote-cjk-patch"/>
            </a:endParaRPr>
          </a:p>
          <a:p>
            <a:pPr marL="742950" lvl="1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9FAFB"/>
                </a:solidFill>
                <a:latin typeface="quote-cjk-patch"/>
              </a:rPr>
              <a:t>Broadening the Narrative: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 Computing history is often narrowly told. This work reveals a global, diverse foundation for logical thinking.</a:t>
            </a:r>
          </a:p>
          <a:p>
            <a:pPr marL="742950" lvl="1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9FAFB"/>
                </a:solidFill>
                <a:latin typeface="quote-cjk-patch"/>
              </a:rPr>
              <a:t>Enhancing Innovation: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 Diverse perspectives (like seeing algorithms in culture) fuel creative problem-solving.</a:t>
            </a:r>
          </a:p>
          <a:p>
            <a:pPr marL="742950" lvl="1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9FAFB"/>
                </a:solidFill>
                <a:latin typeface="quote-cjk-patch"/>
              </a:rPr>
              <a:t>Inclusive Education: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 Makes CS more relatable and accessible to a wider range of students by connecting it to their heritage or new cultural contexts.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2973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2950" y="1093738"/>
            <a:ext cx="12096750" cy="61234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en-US" sz="4400" dirty="0">
                <a:solidFill>
                  <a:srgbClr val="F9FAFB"/>
                </a:solidFill>
                <a:latin typeface="quote-cjk-patch"/>
              </a:rPr>
              <a:t> A Roadmap for Interdisciplinary Innovation</a:t>
            </a:r>
          </a:p>
          <a:p>
            <a:pPr>
              <a:lnSpc>
                <a:spcPct val="300000"/>
              </a:lnSpc>
            </a:pPr>
            <a:r>
              <a:rPr lang="en-US" b="1" dirty="0">
                <a:solidFill>
                  <a:srgbClr val="F9FAFB"/>
                </a:solidFill>
                <a:latin typeface="quote-cjk-patch"/>
              </a:rPr>
              <a:t>Content:</a:t>
            </a:r>
            <a:endParaRPr lang="en-US" dirty="0">
              <a:solidFill>
                <a:srgbClr val="F9FAFB"/>
              </a:solidFill>
              <a:latin typeface="quote-cjk-patch"/>
            </a:endParaRPr>
          </a:p>
          <a:p>
            <a:pPr marL="742950" lvl="1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9FAFB"/>
                </a:solidFill>
                <a:latin typeface="quote-cjk-patch"/>
              </a:rPr>
              <a:t>For Research: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 Bio-inspired computing, novel algorithms for network design, and AI pattern generation.</a:t>
            </a:r>
          </a:p>
          <a:p>
            <a:pPr marL="742950" lvl="1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9FAFB"/>
                </a:solidFill>
                <a:latin typeface="quote-cjk-patch"/>
              </a:rPr>
              <a:t>For Pedagogy: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 Develop curricula that use cultural fractals to teach recursion, algorithms, and systems thinking in an engaging way.</a:t>
            </a:r>
          </a:p>
          <a:p>
            <a:pPr marL="742950" lvl="1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9FAFB"/>
                </a:solidFill>
                <a:latin typeface="quote-cjk-patch"/>
              </a:rPr>
              <a:t>For Industry: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 Design principles for more scalable, resilient, and human-centric tech infrastructure.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073442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76300" y="536139"/>
            <a:ext cx="9144000" cy="91409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300000"/>
              </a:lnSpc>
            </a:pPr>
            <a:r>
              <a:rPr lang="en-US" sz="3200" dirty="0" smtClean="0">
                <a:solidFill>
                  <a:srgbClr val="F9FAFB"/>
                </a:solidFill>
                <a:latin typeface="quote-cjk-patch"/>
              </a:rPr>
              <a:t>CONCLUSION:</a:t>
            </a:r>
          </a:p>
          <a:p>
            <a:pPr>
              <a:lnSpc>
                <a:spcPct val="300000"/>
              </a:lnSpc>
            </a:pPr>
            <a:r>
              <a:rPr lang="en-US" sz="2000" dirty="0" smtClean="0">
                <a:solidFill>
                  <a:srgbClr val="F9FAFB"/>
                </a:solidFill>
                <a:latin typeface="quote-cjk-patch"/>
              </a:rPr>
              <a:t>Tradition </a:t>
            </a:r>
            <a:r>
              <a:rPr lang="en-US" sz="2000" dirty="0">
                <a:solidFill>
                  <a:srgbClr val="F9FAFB"/>
                </a:solidFill>
                <a:latin typeface="quote-cjk-patch"/>
              </a:rPr>
              <a:t>as a Catalyst for Future Tech</a:t>
            </a:r>
          </a:p>
          <a:p>
            <a:pPr>
              <a:lnSpc>
                <a:spcPct val="300000"/>
              </a:lnSpc>
            </a:pPr>
            <a:r>
              <a:rPr lang="en-US" b="1" dirty="0">
                <a:solidFill>
                  <a:srgbClr val="F9FAFB"/>
                </a:solidFill>
                <a:latin typeface="quote-cjk-patch"/>
              </a:rPr>
              <a:t>Content:</a:t>
            </a:r>
            <a:endParaRPr lang="en-US" dirty="0">
              <a:solidFill>
                <a:srgbClr val="F9FAFB"/>
              </a:solidFill>
              <a:latin typeface="quote-cjk-patch"/>
            </a:endParaRPr>
          </a:p>
          <a:p>
            <a:pPr marL="742950" lvl="1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9FAFB"/>
                </a:solidFill>
                <a:latin typeface="quote-cjk-patch"/>
              </a:rPr>
              <a:t>Reiteration: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 African fractal patterns are </a:t>
            </a:r>
            <a:r>
              <a:rPr lang="en-US" b="1" dirty="0">
                <a:solidFill>
                  <a:srgbClr val="F9FAFB"/>
                </a:solidFill>
                <a:latin typeface="quote-cjk-patch"/>
              </a:rPr>
              <a:t>encoded systems logic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—demonstrating algorithmic thinking, recursive design, and scalable hierarchy.</a:t>
            </a:r>
          </a:p>
          <a:p>
            <a:pPr marL="742950" lvl="1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9FAFB"/>
                </a:solidFill>
                <a:latin typeface="quote-cjk-patch"/>
              </a:rPr>
              <a:t>The Bridge: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 They provide a rich, untapped resource of metaphors and models for modern computing challenges.</a:t>
            </a:r>
          </a:p>
          <a:p>
            <a:pPr marL="742950" lvl="1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9FAFB"/>
                </a:solidFill>
                <a:latin typeface="quote-cjk-patch"/>
              </a:rPr>
              <a:t>Final Thought: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 By looking back at these sophisticated cultural systems, we can find innovative paths forward in technology, making it more elegant, efficient, and inclusive.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65568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254</Words>
  <Application>Microsoft Office PowerPoint</Application>
  <PresentationFormat>Custom</PresentationFormat>
  <Paragraphs>161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montserrat</vt:lpstr>
      <vt:lpstr>quote-cjk-patch</vt:lpstr>
      <vt:lpstr>roboto</vt:lpstr>
      <vt:lpstr>var(--ds-font-family-code)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6c775d1a-f68f-4bb2-a8ed-0fb911b705bc</dc:title>
  <dc:subject>Presentation Export</dc:subject>
  <dc:creator>Design Export</dc:creator>
  <cp:lastModifiedBy>Microsoft account</cp:lastModifiedBy>
  <cp:revision>9</cp:revision>
  <dcterms:created xsi:type="dcterms:W3CDTF">2026-01-30T04:42:38Z</dcterms:created>
  <dcterms:modified xsi:type="dcterms:W3CDTF">2026-01-30T11:00:22Z</dcterms:modified>
</cp:coreProperties>
</file>