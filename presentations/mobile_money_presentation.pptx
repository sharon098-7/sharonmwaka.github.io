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Montserrat" panose="020B0604020202020204" charset="0"/>
      <p:regular r:id="rId18"/>
      <p:bold r:id="rId19"/>
      <p:italic r:id="rId20"/>
      <p:boldItalic r:id="rId21"/>
    </p:embeddedFont>
    <p:embeddedFont>
      <p:font typeface="Open Sans Medium" panose="020B0604020202020204" charset="0"/>
      <p:regular r:id="rId22"/>
      <p:bold r:id="rId23"/>
      <p:italic r:id="rId24"/>
      <p:boldItalic r:id="rId25"/>
    </p:embeddedFont>
    <p:embeddedFont>
      <p:font typeface="Lato" panose="020B0604020202020204" charset="0"/>
      <p:regular r:id="rId26"/>
      <p:bold r:id="rId27"/>
      <p:italic r:id="rId28"/>
      <p:boldItalic r:id="rId29"/>
    </p:embeddedFont>
    <p:embeddedFont>
      <p:font typeface="Hanken Grotesk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33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14022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SLIDES_API98956949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SLIDES_API98956949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770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SLIDES_API15221597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SLIDES_API15221597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241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SLIDES_API3862376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SLIDES_API3862376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646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SLIDES_API183567434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SLIDES_API183567434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371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SLIDES_API111410647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SLIDES_API111410647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1724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SLIDES_API127196118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SLIDES_API127196118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992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SLIDES_API211379397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SLIDES_API211379397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501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SLIDES_API181471094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SLIDES_API181471094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1119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SLIDES_API198668012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SLIDES_API198668012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883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SLIDES_API11706151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SLIDES_API11706151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008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SLIDES_API167588167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SLIDES_API167588167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51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SLIDES_API77015866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SLIDES_API77015866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57332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SLIDES_API147315144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SLIDES_API147315144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687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SLIDES_API172403179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SLIDES_API172403179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3070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SLIDES_API4923009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SLIDES_API4923009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1943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 - Image">
  <p:cSld name="TITLE_AND_BODY_1_3_1_2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4093500" cy="5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ldNum" idx="12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body" idx="1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✓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5138125" y="2908075"/>
            <a:ext cx="2701800" cy="2701800"/>
          </a:xfrm>
          <a:prstGeom prst="plus">
            <a:avLst>
              <a:gd name="adj" fmla="val 34849"/>
            </a:avLst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3"/>
          <p:cNvSpPr>
            <a:spLocks noGrp="1"/>
          </p:cNvSpPr>
          <p:nvPr>
            <p:ph type="pic" idx="2"/>
          </p:nvPr>
        </p:nvSpPr>
        <p:spPr>
          <a:xfrm>
            <a:off x="5870827" y="571500"/>
            <a:ext cx="2701800" cy="400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TITLE_AND_BODY_1_3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>
            <a:off x="3531375" y="445025"/>
            <a:ext cx="5106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sldNum" idx="12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body" idx="1"/>
          </p:nvPr>
        </p:nvSpPr>
        <p:spPr>
          <a:xfrm>
            <a:off x="3531375" y="1077925"/>
            <a:ext cx="5106900" cy="32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✓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1562850" y="3136675"/>
            <a:ext cx="2701800" cy="2701800"/>
          </a:xfrm>
          <a:prstGeom prst="plus">
            <a:avLst>
              <a:gd name="adj" fmla="val 34849"/>
            </a:avLst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4"/>
          <p:cNvSpPr>
            <a:spLocks noGrp="1"/>
          </p:cNvSpPr>
          <p:nvPr>
            <p:ph type="pic" idx="2"/>
          </p:nvPr>
        </p:nvSpPr>
        <p:spPr>
          <a:xfrm>
            <a:off x="496050" y="571500"/>
            <a:ext cx="2300400" cy="400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items on timeline 1">
  <p:cSld name="MAIN_POINT_2_2_2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278250" y="445025"/>
            <a:ext cx="7803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sldNum" idx="12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body" idx="1"/>
          </p:nvPr>
        </p:nvSpPr>
        <p:spPr>
          <a:xfrm>
            <a:off x="2691118" y="1237550"/>
            <a:ext cx="5390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body" idx="2"/>
          </p:nvPr>
        </p:nvSpPr>
        <p:spPr>
          <a:xfrm>
            <a:off x="2691118" y="2225625"/>
            <a:ext cx="5390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3"/>
          </p:nvPr>
        </p:nvSpPr>
        <p:spPr>
          <a:xfrm>
            <a:off x="2691103" y="3297425"/>
            <a:ext cx="5390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cxnSp>
        <p:nvCxnSpPr>
          <p:cNvPr id="148" name="Google Shape;148;p15"/>
          <p:cNvCxnSpPr/>
          <p:nvPr/>
        </p:nvCxnSpPr>
        <p:spPr>
          <a:xfrm>
            <a:off x="2366100" y="1266800"/>
            <a:ext cx="0" cy="3606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9" name="Google Shape;149;p15"/>
          <p:cNvSpPr/>
          <p:nvPr/>
        </p:nvSpPr>
        <p:spPr>
          <a:xfrm>
            <a:off x="2289750" y="1492850"/>
            <a:ext cx="152700" cy="152700"/>
          </a:xfrm>
          <a:prstGeom prst="mathPlus">
            <a:avLst>
              <a:gd name="adj1" fmla="val 23520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2289750" y="2500275"/>
            <a:ext cx="152700" cy="152700"/>
          </a:xfrm>
          <a:prstGeom prst="mathPlus">
            <a:avLst>
              <a:gd name="adj1" fmla="val 23520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2289750" y="3544525"/>
            <a:ext cx="152700" cy="152700"/>
          </a:xfrm>
          <a:prstGeom prst="mathPlus">
            <a:avLst>
              <a:gd name="adj1" fmla="val 23520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4"/>
          </p:nvPr>
        </p:nvSpPr>
        <p:spPr>
          <a:xfrm>
            <a:off x="203925" y="1404950"/>
            <a:ext cx="19959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5"/>
          </p:nvPr>
        </p:nvSpPr>
        <p:spPr>
          <a:xfrm>
            <a:off x="203925" y="2412375"/>
            <a:ext cx="19959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subTitle" idx="6"/>
          </p:nvPr>
        </p:nvSpPr>
        <p:spPr>
          <a:xfrm>
            <a:off x="203925" y="3456625"/>
            <a:ext cx="19959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2289750" y="4329313"/>
            <a:ext cx="152700" cy="152700"/>
          </a:xfrm>
          <a:prstGeom prst="mathPlus">
            <a:avLst>
              <a:gd name="adj1" fmla="val 23520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body" idx="7"/>
          </p:nvPr>
        </p:nvSpPr>
        <p:spPr>
          <a:xfrm>
            <a:off x="2691103" y="4065025"/>
            <a:ext cx="5390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subTitle" idx="8"/>
          </p:nvPr>
        </p:nvSpPr>
        <p:spPr>
          <a:xfrm>
            <a:off x="203925" y="4232425"/>
            <a:ext cx="19959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8582548" y="0"/>
            <a:ext cx="577800" cy="3317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TITLE_AND_BODY_1_3_1_3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4093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sldNum" idx="12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body" idx="1"/>
          </p:nvPr>
        </p:nvSpPr>
        <p:spPr>
          <a:xfrm>
            <a:off x="566250" y="1149575"/>
            <a:ext cx="4093500" cy="35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✓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5138125" y="2908075"/>
            <a:ext cx="2701800" cy="2701800"/>
          </a:xfrm>
          <a:prstGeom prst="plus">
            <a:avLst>
              <a:gd name="adj" fmla="val 34849"/>
            </a:avLst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6"/>
          <p:cNvSpPr>
            <a:spLocks noGrp="1"/>
          </p:cNvSpPr>
          <p:nvPr>
            <p:ph type="pic" idx="2"/>
          </p:nvPr>
        </p:nvSpPr>
        <p:spPr>
          <a:xfrm>
            <a:off x="5794650" y="571500"/>
            <a:ext cx="2778000" cy="400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2">
  <p:cSld name="TITLE_AND_BODY_1_2_1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569477" y="1377275"/>
            <a:ext cx="1912800" cy="23406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body" idx="1"/>
          </p:nvPr>
        </p:nvSpPr>
        <p:spPr>
          <a:xfrm>
            <a:off x="756741" y="2449762"/>
            <a:ext cx="15519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66250" y="1377275"/>
            <a:ext cx="1912800" cy="459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2"/>
          </p:nvPr>
        </p:nvSpPr>
        <p:spPr>
          <a:xfrm>
            <a:off x="756741" y="1937950"/>
            <a:ext cx="1551900" cy="4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2601284" y="1377275"/>
            <a:ext cx="1912800" cy="23406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2788548" y="2449762"/>
            <a:ext cx="15519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subTitle" idx="4"/>
          </p:nvPr>
        </p:nvSpPr>
        <p:spPr>
          <a:xfrm>
            <a:off x="2788548" y="1937950"/>
            <a:ext cx="1551900" cy="4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4633091" y="1377275"/>
            <a:ext cx="1912800" cy="23406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body" idx="5"/>
          </p:nvPr>
        </p:nvSpPr>
        <p:spPr>
          <a:xfrm>
            <a:off x="4820355" y="2449762"/>
            <a:ext cx="15519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6"/>
          </p:nvPr>
        </p:nvSpPr>
        <p:spPr>
          <a:xfrm>
            <a:off x="4820355" y="1937950"/>
            <a:ext cx="1551900" cy="4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6664899" y="1377275"/>
            <a:ext cx="1912800" cy="23406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body" idx="7"/>
          </p:nvPr>
        </p:nvSpPr>
        <p:spPr>
          <a:xfrm>
            <a:off x="6852162" y="2449762"/>
            <a:ext cx="15519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8"/>
          </p:nvPr>
        </p:nvSpPr>
        <p:spPr>
          <a:xfrm>
            <a:off x="6852162" y="1937950"/>
            <a:ext cx="1551900" cy="4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2608100" y="1377275"/>
            <a:ext cx="1912800" cy="459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4636500" y="1377275"/>
            <a:ext cx="1912800" cy="459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6664900" y="1377275"/>
            <a:ext cx="1912800" cy="459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7"/>
          <p:cNvSpPr/>
          <p:nvPr/>
        </p:nvSpPr>
        <p:spPr>
          <a:xfrm rot="10800000">
            <a:off x="1356725" y="4032755"/>
            <a:ext cx="307800" cy="307800"/>
          </a:xfrm>
          <a:prstGeom prst="plus">
            <a:avLst>
              <a:gd name="adj" fmla="val 34849"/>
            </a:avLst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"/>
          <p:cNvSpPr/>
          <p:nvPr/>
        </p:nvSpPr>
        <p:spPr>
          <a:xfrm rot="10800000">
            <a:off x="112723" y="4003225"/>
            <a:ext cx="1053600" cy="1053600"/>
          </a:xfrm>
          <a:prstGeom prst="plus">
            <a:avLst>
              <a:gd name="adj" fmla="val 34849"/>
            </a:avLst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8572500" y="171300"/>
            <a:ext cx="400200" cy="400200"/>
          </a:xfrm>
          <a:prstGeom prst="plus">
            <a:avLst>
              <a:gd name="adj" fmla="val 34849"/>
            </a:avLst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 No Image">
  <p:cSld name="TITLE_AND_BODY_1_3_1_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/>
          <p:nvPr/>
        </p:nvSpPr>
        <p:spPr>
          <a:xfrm>
            <a:off x="7507350" y="-1155050"/>
            <a:ext cx="2701800" cy="2701800"/>
          </a:xfrm>
          <a:prstGeom prst="plus">
            <a:avLst>
              <a:gd name="adj" fmla="val 34849"/>
            </a:avLst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title"/>
          </p:nvPr>
        </p:nvSpPr>
        <p:spPr>
          <a:xfrm>
            <a:off x="566250" y="293700"/>
            <a:ext cx="777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1"/>
          </p:nvPr>
        </p:nvSpPr>
        <p:spPr>
          <a:xfrm>
            <a:off x="566250" y="920075"/>
            <a:ext cx="7777200" cy="27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85650" y="4657650"/>
            <a:ext cx="400200" cy="400200"/>
          </a:xfrm>
          <a:prstGeom prst="plus">
            <a:avLst>
              <a:gd name="adj" fmla="val 34849"/>
            </a:avLst>
          </a:prstGeom>
          <a:solidFill>
            <a:srgbClr val="E2E8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-10950" y="0"/>
            <a:ext cx="354000" cy="3317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>
            <a:spLocks noGrp="1"/>
          </p:cNvSpPr>
          <p:nvPr>
            <p:ph type="title"/>
          </p:nvPr>
        </p:nvSpPr>
        <p:spPr>
          <a:xfrm>
            <a:off x="539475" y="924225"/>
            <a:ext cx="4349400" cy="38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 dirty="0" err="1"/>
              <a:t>Title</a:t>
            </a:r>
            <a:r>
              <a:rPr lang="en-GB" dirty="0" err="1"/>
              <a:t>:</a:t>
            </a:r>
            <a:r>
              <a:rPr lang="en-GB" sz="1744" b="1" dirty="0" err="1">
                <a:latin typeface="Lato"/>
                <a:ea typeface="Lato"/>
                <a:cs typeface="Lato"/>
                <a:sym typeface="Lato"/>
              </a:rPr>
              <a:t>Mobile</a:t>
            </a:r>
            <a:r>
              <a:rPr lang="en-GB" sz="1744" b="1" dirty="0">
                <a:latin typeface="Lato"/>
                <a:ea typeface="Lato"/>
                <a:cs typeface="Lato"/>
                <a:sym typeface="Lato"/>
              </a:rPr>
              <a:t> Money Systems</a:t>
            </a:r>
            <a:endParaRPr sz="1744" b="1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 dirty="0"/>
              <a:t>Subtitle</a:t>
            </a:r>
            <a:r>
              <a:rPr lang="en-GB" dirty="0"/>
              <a:t>:</a:t>
            </a:r>
            <a:r>
              <a:rPr lang="en-GB" sz="1300" b="1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744" b="1" dirty="0">
                <a:latin typeface="Lato"/>
                <a:ea typeface="Lato"/>
                <a:cs typeface="Lato"/>
                <a:sym typeface="Lato"/>
              </a:rPr>
              <a:t>M-</a:t>
            </a:r>
            <a:r>
              <a:rPr lang="en-GB" sz="1744" b="1" dirty="0" err="1">
                <a:latin typeface="Lato"/>
                <a:ea typeface="Lato"/>
                <a:cs typeface="Lato"/>
                <a:sym typeface="Lato"/>
              </a:rPr>
              <a:t>Pesa</a:t>
            </a:r>
            <a:r>
              <a:rPr lang="en-GB" sz="1744" b="1" dirty="0">
                <a:latin typeface="Lato"/>
                <a:ea typeface="Lato"/>
                <a:cs typeface="Lato"/>
                <a:sym typeface="Lato"/>
              </a:rPr>
              <a:t> as an IT Innovation</a:t>
            </a:r>
            <a:endParaRPr sz="1744" b="1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 dirty="0"/>
              <a:t>Sharon Mwaka</a:t>
            </a:r>
            <a:endParaRPr sz="2244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 dirty="0"/>
              <a:t>C027-01-1034/2022</a:t>
            </a:r>
            <a:endParaRPr sz="2244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44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 dirty="0"/>
              <a:t>BBIT</a:t>
            </a:r>
            <a:endParaRPr sz="2244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44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 dirty="0" smtClean="0"/>
              <a:t>DATE:10-12-2025</a:t>
            </a:r>
            <a:endParaRPr sz="2244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7" name="Google Shape;197;p1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207" b="2207"/>
          <a:stretch/>
        </p:blipFill>
        <p:spPr>
          <a:xfrm>
            <a:off x="5484853" y="571500"/>
            <a:ext cx="3087771" cy="4571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>
            <a:spLocks noGrp="1"/>
          </p:cNvSpPr>
          <p:nvPr>
            <p:ph type="title"/>
          </p:nvPr>
        </p:nvSpPr>
        <p:spPr>
          <a:xfrm>
            <a:off x="267900" y="267900"/>
            <a:ext cx="84921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/>
              <a:t>Introduction</a:t>
            </a:r>
            <a:r>
              <a:rPr lang="en-GB"/>
              <a:t>: </a:t>
            </a:r>
            <a:r>
              <a:rPr lang="en-GB" sz="1800"/>
              <a:t>Define mobile</a:t>
            </a:r>
            <a:r>
              <a:rPr lang="en-GB"/>
              <a:t> </a:t>
            </a:r>
            <a:r>
              <a:rPr lang="en-GB" sz="1800"/>
              <a:t>money</a:t>
            </a:r>
            <a:r>
              <a:rPr lang="en-GB"/>
              <a:t> </a:t>
            </a:r>
            <a:r>
              <a:rPr lang="en-GB" sz="1688"/>
              <a:t>systems, describe</a:t>
            </a:r>
            <a:r>
              <a:rPr lang="en-GB"/>
              <a:t> </a:t>
            </a:r>
            <a:r>
              <a:rPr lang="en-GB" sz="1688"/>
              <a:t>M-Pesa’s role</a:t>
            </a:r>
            <a:r>
              <a:rPr lang="en-GB"/>
              <a:t> </a:t>
            </a:r>
            <a:r>
              <a:rPr lang="en-GB" sz="1688"/>
              <a:t>and IT importance</a:t>
            </a:r>
            <a:endParaRPr sz="1688"/>
          </a:p>
        </p:txBody>
      </p:sp>
      <p:sp>
        <p:nvSpPr>
          <p:cNvPr id="203" name="Google Shape;203;p20"/>
          <p:cNvSpPr txBox="1">
            <a:spLocks noGrp="1"/>
          </p:cNvSpPr>
          <p:nvPr>
            <p:ph type="body" idx="1"/>
          </p:nvPr>
        </p:nvSpPr>
        <p:spPr>
          <a:xfrm>
            <a:off x="3531375" y="1077925"/>
            <a:ext cx="5106900" cy="32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Mobile money systems: Digital platforms enabling financial transactions via mobile devices, eliminating the need for a traditional bank account.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M-Pesa Overview: Launched in Kenya by Safaricom and Vodafone, facilitating deposits, withdrawals, money transfers, bill payments, and access to financial services via mobile phones.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IT Importance</a:t>
            </a:r>
            <a:r>
              <a:rPr lang="en-GB"/>
              <a:t>: Bridges the banking gap through technology, empowering millions lacking access to traditional banking services, and fostering financial inclusion.</a:t>
            </a:r>
            <a:endParaRPr/>
          </a:p>
        </p:txBody>
      </p:sp>
      <p:pic>
        <p:nvPicPr>
          <p:cNvPr id="204" name="Google Shape;204;p20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050" y="1117426"/>
            <a:ext cx="3035326" cy="3837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>
            <a:spLocks noGrp="1"/>
          </p:cNvSpPr>
          <p:nvPr>
            <p:ph type="title"/>
          </p:nvPr>
        </p:nvSpPr>
        <p:spPr>
          <a:xfrm>
            <a:off x="278250" y="445025"/>
            <a:ext cx="7803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Historical Background: Timeline from concept to global reach</a:t>
            </a:r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body" idx="1"/>
          </p:nvPr>
        </p:nvSpPr>
        <p:spPr>
          <a:xfrm>
            <a:off x="2691118" y="1237550"/>
            <a:ext cx="5390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Conceptualization by </a:t>
            </a:r>
            <a:r>
              <a:rPr lang="en-GB" b="1"/>
              <a:t>Vodafone</a:t>
            </a:r>
            <a:r>
              <a:rPr lang="en-GB"/>
              <a:t> &amp; </a:t>
            </a:r>
            <a:r>
              <a:rPr lang="en-GB" b="1"/>
              <a:t>Safaricom</a:t>
            </a:r>
            <a:r>
              <a:rPr lang="en-GB"/>
              <a:t>, aiming to address financial access challenges in developing markets.</a:t>
            </a:r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body" idx="2"/>
          </p:nvPr>
        </p:nvSpPr>
        <p:spPr>
          <a:xfrm>
            <a:off x="2691118" y="2225625"/>
            <a:ext cx="5390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Official launch in </a:t>
            </a:r>
            <a:r>
              <a:rPr lang="en-GB" b="1"/>
              <a:t>Kenya</a:t>
            </a:r>
            <a:r>
              <a:rPr lang="en-GB"/>
              <a:t>, marking a pivotal moment in mobile financial services.</a:t>
            </a:r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body" idx="3"/>
          </p:nvPr>
        </p:nvSpPr>
        <p:spPr>
          <a:xfrm>
            <a:off x="2691103" y="3297425"/>
            <a:ext cx="5390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Expansion to </a:t>
            </a:r>
            <a:r>
              <a:rPr lang="en-GB" b="1"/>
              <a:t>Tanzania</a:t>
            </a:r>
            <a:r>
              <a:rPr lang="en-GB"/>
              <a:t>, </a:t>
            </a:r>
            <a:r>
              <a:rPr lang="en-GB" b="1"/>
              <a:t>Ghana</a:t>
            </a:r>
            <a:r>
              <a:rPr lang="en-GB"/>
              <a:t>, and </a:t>
            </a:r>
            <a:r>
              <a:rPr lang="en-GB" b="1"/>
              <a:t>India</a:t>
            </a:r>
            <a:r>
              <a:rPr lang="en-GB"/>
              <a:t>, extending </a:t>
            </a:r>
            <a:r>
              <a:rPr lang="en-GB" b="1"/>
              <a:t>M-Pesa's</a:t>
            </a:r>
            <a:r>
              <a:rPr lang="en-GB"/>
              <a:t> reach across </a:t>
            </a:r>
            <a:r>
              <a:rPr lang="en-GB" b="1"/>
              <a:t>Africa</a:t>
            </a:r>
            <a:r>
              <a:rPr lang="en-GB"/>
              <a:t> and </a:t>
            </a:r>
            <a:r>
              <a:rPr lang="en-GB" b="1"/>
              <a:t>Asia</a:t>
            </a:r>
            <a:r>
              <a:rPr lang="en-GB"/>
              <a:t>.</a:t>
            </a:r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4"/>
          </p:nvPr>
        </p:nvSpPr>
        <p:spPr>
          <a:xfrm>
            <a:off x="203925" y="1404950"/>
            <a:ext cx="19959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2003</a:t>
            </a:r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subTitle" idx="5"/>
          </p:nvPr>
        </p:nvSpPr>
        <p:spPr>
          <a:xfrm>
            <a:off x="203925" y="2412375"/>
            <a:ext cx="19959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2007</a:t>
            </a:r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subTitle" idx="6"/>
          </p:nvPr>
        </p:nvSpPr>
        <p:spPr>
          <a:xfrm>
            <a:off x="203925" y="3456625"/>
            <a:ext cx="19959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2010+</a:t>
            </a:r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body" idx="7"/>
          </p:nvPr>
        </p:nvSpPr>
        <p:spPr>
          <a:xfrm>
            <a:off x="2691103" y="4065025"/>
            <a:ext cx="5390700" cy="6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Serving over </a:t>
            </a:r>
            <a:r>
              <a:rPr lang="en-GB" b="1"/>
              <a:t>50 million users</a:t>
            </a:r>
            <a:r>
              <a:rPr lang="en-GB"/>
              <a:t> across multiple countries, demonstrating its sustainable and global impact.</a:t>
            </a:r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subTitle" idx="8"/>
          </p:nvPr>
        </p:nvSpPr>
        <p:spPr>
          <a:xfrm>
            <a:off x="203925" y="4232425"/>
            <a:ext cx="19959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Today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>
            <a:spLocks noGrp="1"/>
          </p:cNvSpPr>
          <p:nvPr>
            <p:ph type="title"/>
          </p:nvPr>
        </p:nvSpPr>
        <p:spPr>
          <a:xfrm>
            <a:off x="0" y="93750"/>
            <a:ext cx="8638200" cy="8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Technical Architecture: SMS-based system, agent network,            mobile wallet, and security</a:t>
            </a:r>
            <a:endParaRPr sz="2020"/>
          </a:p>
        </p:txBody>
      </p:sp>
      <p:sp>
        <p:nvSpPr>
          <p:cNvPr id="223" name="Google Shape;223;p22"/>
          <p:cNvSpPr txBox="1">
            <a:spLocks noGrp="1"/>
          </p:cNvSpPr>
          <p:nvPr>
            <p:ph type="body" idx="1"/>
          </p:nvPr>
        </p:nvSpPr>
        <p:spPr>
          <a:xfrm>
            <a:off x="3531375" y="1077925"/>
            <a:ext cx="5106900" cy="32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SMS-based Transactions: Enables secure money transfers via simple text messages, ensuring accessibility even on basic mobile phones.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Agent Network: Extensive network of local agents facilitating cash deposits and withdrawals, overcoming infrastructure limitations.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Mobile Wallet: Digital account linked to a user’s phone number, providing a secure and convenient way to store and manage funds.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Security</a:t>
            </a:r>
            <a:r>
              <a:rPr lang="en-GB"/>
              <a:t>: PIN authentication and data encryption protect transactions, ensuring user confidence and trust.</a:t>
            </a:r>
            <a:endParaRPr/>
          </a:p>
        </p:txBody>
      </p:sp>
      <p:pic>
        <p:nvPicPr>
          <p:cNvPr id="224" name="Google Shape;224;p2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08" b="317"/>
          <a:stretch/>
        </p:blipFill>
        <p:spPr>
          <a:xfrm>
            <a:off x="375050" y="948425"/>
            <a:ext cx="2960200" cy="4195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>
            <a:spLocks noGrp="1"/>
          </p:cNvSpPr>
          <p:nvPr>
            <p:ph type="title"/>
          </p:nvPr>
        </p:nvSpPr>
        <p:spPr>
          <a:xfrm>
            <a:off x="566250" y="321475"/>
            <a:ext cx="8381400" cy="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Key Features &amp; Services: P2P transfers, bill payments, loans, merchant services</a:t>
            </a:r>
            <a:endParaRPr sz="2020"/>
          </a:p>
        </p:txBody>
      </p:sp>
      <p:sp>
        <p:nvSpPr>
          <p:cNvPr id="230" name="Google Shape;230;p23"/>
          <p:cNvSpPr txBox="1">
            <a:spLocks noGrp="1"/>
          </p:cNvSpPr>
          <p:nvPr>
            <p:ph type="body" idx="1"/>
          </p:nvPr>
        </p:nvSpPr>
        <p:spPr>
          <a:xfrm>
            <a:off x="566250" y="1149575"/>
            <a:ext cx="4093500" cy="35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Peer-to-peer (P2P) money transfers: Allows users to easily send and receive money directly to each other, fostering social and economic connections.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Bill payments: Enables payment of utility bills, school fees, and other expenses directly from the mobile phone.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Savings &amp; microloans: Offered through partnerships like M-Shwari and KCB M-Pesa, providing access to savings accounts and small loans.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Merchant and retail payments</a:t>
            </a:r>
            <a:r>
              <a:rPr lang="en-GB"/>
              <a:t>: Facilitates payments for goods and services at participating merchants and retailers, enhancing transactional convenience.</a:t>
            </a:r>
            <a:endParaRPr/>
          </a:p>
        </p:txBody>
      </p:sp>
      <p:pic>
        <p:nvPicPr>
          <p:cNvPr id="231" name="Google Shape;231;p2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513" b="3523"/>
          <a:stretch/>
        </p:blipFill>
        <p:spPr>
          <a:xfrm>
            <a:off x="5583292" y="935300"/>
            <a:ext cx="2922233" cy="4208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Impact &amp; Statistics: User base, transaction volume, financial inclusion, social impact</a:t>
            </a:r>
            <a:endParaRPr/>
          </a:p>
        </p:txBody>
      </p:sp>
      <p:sp>
        <p:nvSpPr>
          <p:cNvPr id="237" name="Google Shape;237;p24"/>
          <p:cNvSpPr txBox="1">
            <a:spLocks noGrp="1"/>
          </p:cNvSpPr>
          <p:nvPr>
            <p:ph type="body" idx="1"/>
          </p:nvPr>
        </p:nvSpPr>
        <p:spPr>
          <a:xfrm>
            <a:off x="756741" y="2449762"/>
            <a:ext cx="1551900" cy="1016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Reaching over 50 million users, predominantly in Kenya (~30M)</a:t>
            </a:r>
            <a:endParaRPr/>
          </a:p>
        </p:txBody>
      </p:sp>
      <p:sp>
        <p:nvSpPr>
          <p:cNvPr id="238" name="Google Shape;238;p24"/>
          <p:cNvSpPr txBox="1">
            <a:spLocks noGrp="1"/>
          </p:cNvSpPr>
          <p:nvPr>
            <p:ph type="subTitle" idx="2"/>
          </p:nvPr>
        </p:nvSpPr>
        <p:spPr>
          <a:xfrm>
            <a:off x="756741" y="1937950"/>
            <a:ext cx="1551900" cy="434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i="1"/>
              <a:t>50M</a:t>
            </a:r>
            <a:endParaRPr i="1"/>
          </a:p>
        </p:txBody>
      </p:sp>
      <p:sp>
        <p:nvSpPr>
          <p:cNvPr id="239" name="Google Shape;239;p24"/>
          <p:cNvSpPr txBox="1">
            <a:spLocks noGrp="1"/>
          </p:cNvSpPr>
          <p:nvPr>
            <p:ph type="body" idx="3"/>
          </p:nvPr>
        </p:nvSpPr>
        <p:spPr>
          <a:xfrm>
            <a:off x="2788548" y="2449762"/>
            <a:ext cx="1551900" cy="1016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Processing more than 1 billion transactions per month (as of 2023)</a:t>
            </a:r>
            <a:endParaRPr/>
          </a:p>
        </p:txBody>
      </p:sp>
      <p:sp>
        <p:nvSpPr>
          <p:cNvPr id="240" name="Google Shape;240;p24"/>
          <p:cNvSpPr txBox="1">
            <a:spLocks noGrp="1"/>
          </p:cNvSpPr>
          <p:nvPr>
            <p:ph type="subTitle" idx="4"/>
          </p:nvPr>
        </p:nvSpPr>
        <p:spPr>
          <a:xfrm>
            <a:off x="2788548" y="1937950"/>
            <a:ext cx="1551900" cy="434400"/>
          </a:xfrm>
          <a:prstGeom prst="rect">
            <a:avLst/>
          </a:prstGeom>
          <a:solidFill>
            <a:srgbClr val="000000"/>
          </a:solidFill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i="1"/>
              <a:t>1B/month</a:t>
            </a:r>
            <a:endParaRPr i="1"/>
          </a:p>
        </p:txBody>
      </p:sp>
      <p:sp>
        <p:nvSpPr>
          <p:cNvPr id="241" name="Google Shape;241;p24"/>
          <p:cNvSpPr txBox="1">
            <a:spLocks noGrp="1"/>
          </p:cNvSpPr>
          <p:nvPr>
            <p:ph type="body" idx="5"/>
          </p:nvPr>
        </p:nvSpPr>
        <p:spPr>
          <a:xfrm>
            <a:off x="4820355" y="2449762"/>
            <a:ext cx="1551900" cy="1016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Enabling 84% of Kenyan adults to use mobile money</a:t>
            </a:r>
            <a:endParaRPr/>
          </a:p>
        </p:txBody>
      </p:sp>
      <p:sp>
        <p:nvSpPr>
          <p:cNvPr id="242" name="Google Shape;242;p24"/>
          <p:cNvSpPr txBox="1">
            <a:spLocks noGrp="1"/>
          </p:cNvSpPr>
          <p:nvPr>
            <p:ph type="subTitle" idx="6"/>
          </p:nvPr>
        </p:nvSpPr>
        <p:spPr>
          <a:xfrm>
            <a:off x="4820355" y="1937950"/>
            <a:ext cx="1551900" cy="434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84%</a:t>
            </a:r>
            <a:endParaRPr/>
          </a:p>
        </p:txBody>
      </p:sp>
      <p:sp>
        <p:nvSpPr>
          <p:cNvPr id="243" name="Google Shape;243;p24"/>
          <p:cNvSpPr txBox="1">
            <a:spLocks noGrp="1"/>
          </p:cNvSpPr>
          <p:nvPr>
            <p:ph type="body" idx="7"/>
          </p:nvPr>
        </p:nvSpPr>
        <p:spPr>
          <a:xfrm>
            <a:off x="6852162" y="2449762"/>
            <a:ext cx="1551900" cy="1016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Contributing to a 2% reduction in poverty and empowering women entrepreneurs</a:t>
            </a:r>
            <a:endParaRPr/>
          </a:p>
        </p:txBody>
      </p:sp>
      <p:sp>
        <p:nvSpPr>
          <p:cNvPr id="244" name="Google Shape;244;p24"/>
          <p:cNvSpPr txBox="1">
            <a:spLocks noGrp="1"/>
          </p:cNvSpPr>
          <p:nvPr>
            <p:ph type="subTitle" idx="8"/>
          </p:nvPr>
        </p:nvSpPr>
        <p:spPr>
          <a:xfrm>
            <a:off x="6852162" y="1937950"/>
            <a:ext cx="1551900" cy="434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2% reduction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4093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Business Model: Revenue sources, advantages</a:t>
            </a:r>
            <a:endParaRPr sz="2020"/>
          </a:p>
        </p:txBody>
      </p:sp>
      <p:sp>
        <p:nvSpPr>
          <p:cNvPr id="250" name="Google Shape;250;p25"/>
          <p:cNvSpPr txBox="1">
            <a:spLocks noGrp="1"/>
          </p:cNvSpPr>
          <p:nvPr>
            <p:ph type="body" idx="1"/>
          </p:nvPr>
        </p:nvSpPr>
        <p:spPr>
          <a:xfrm>
            <a:off x="566250" y="1149575"/>
            <a:ext cx="4093500" cy="35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Revenue: Generates revenue through transaction fees, merchant fees, and interest on microloans, ensuring financial sustainability.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Competitive Advantage</a:t>
            </a:r>
            <a:r>
              <a:rPr lang="en-GB"/>
              <a:t>: Achieves a competitive edge through a ubiquitous agent network, reliability, and strong user trust, key factors for success.</a:t>
            </a:r>
            <a:endParaRPr/>
          </a:p>
        </p:txBody>
      </p:sp>
      <p:pic>
        <p:nvPicPr>
          <p:cNvPr id="251" name="Google Shape;251;p2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513" b="3523"/>
          <a:stretch/>
        </p:blipFill>
        <p:spPr>
          <a:xfrm>
            <a:off x="5478375" y="571500"/>
            <a:ext cx="3094274" cy="44559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 txBox="1">
            <a:spLocks noGrp="1"/>
          </p:cNvSpPr>
          <p:nvPr>
            <p:ph type="title"/>
          </p:nvPr>
        </p:nvSpPr>
        <p:spPr>
          <a:xfrm>
            <a:off x="3531375" y="445025"/>
            <a:ext cx="5106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IT Infrastructure: Databases, encryption, compliance</a:t>
            </a:r>
            <a:endParaRPr sz="2020"/>
          </a:p>
        </p:txBody>
      </p:sp>
      <p:sp>
        <p:nvSpPr>
          <p:cNvPr id="257" name="Google Shape;257;p26"/>
          <p:cNvSpPr txBox="1">
            <a:spLocks noGrp="1"/>
          </p:cNvSpPr>
          <p:nvPr>
            <p:ph type="body" idx="1"/>
          </p:nvPr>
        </p:nvSpPr>
        <p:spPr>
          <a:xfrm>
            <a:off x="3531375" y="1077925"/>
            <a:ext cx="5106900" cy="32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Databases: Employs secure storage of transaction histories to maintain accurate records and facilitate regulatory compliance.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Security: Utilizes end-to-end encryption, PIN-based access, and anti-fraud systems to protect user data and prevent unauthorized access.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Compliance</a:t>
            </a:r>
            <a:r>
              <a:rPr lang="en-GB"/>
              <a:t>: Operates under the regulation of the Central Bank of Kenya, adhering to strict financial standards and guidelines.</a:t>
            </a:r>
            <a:endParaRPr/>
          </a:p>
        </p:txBody>
      </p:sp>
      <p:pic>
        <p:nvPicPr>
          <p:cNvPr id="258" name="Google Shape;258;p2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08" b="317"/>
          <a:stretch/>
        </p:blipFill>
        <p:spPr>
          <a:xfrm>
            <a:off x="496050" y="571500"/>
            <a:ext cx="2629029" cy="4571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>
            <a:spLocks noGrp="1"/>
          </p:cNvSpPr>
          <p:nvPr>
            <p:ph type="title"/>
          </p:nvPr>
        </p:nvSpPr>
        <p:spPr>
          <a:xfrm>
            <a:off x="566250" y="415225"/>
            <a:ext cx="52284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Challenges &amp; Solutions: Regulation, cybersecurity, competition</a:t>
            </a:r>
            <a:endParaRPr sz="2020"/>
          </a:p>
        </p:txBody>
      </p:sp>
      <p:sp>
        <p:nvSpPr>
          <p:cNvPr id="264" name="Google Shape;264;p27"/>
          <p:cNvSpPr txBox="1">
            <a:spLocks noGrp="1"/>
          </p:cNvSpPr>
          <p:nvPr>
            <p:ph type="body" idx="1"/>
          </p:nvPr>
        </p:nvSpPr>
        <p:spPr>
          <a:xfrm>
            <a:off x="566250" y="1149575"/>
            <a:ext cx="4093500" cy="35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Regulation: Addresses regulatory challenges through compliance and collaboration with government bodies to ensure smooth operations.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Cybersecurity: Implements robust authentication and real-time monitoring to mitigate cybersecurity threats and safeguard user accounts.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Competition: Manages competition through continuous innovation and expansion of the agent network, ensuring a competitive edge.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Lessons</a:t>
            </a:r>
            <a:r>
              <a:rPr lang="en-GB"/>
              <a:t>: Highlights that local context and trust are critical for successful adoption and sustainability of mobile money systems.</a:t>
            </a:r>
            <a:endParaRPr/>
          </a:p>
        </p:txBody>
      </p:sp>
      <p:pic>
        <p:nvPicPr>
          <p:cNvPr id="265" name="Google Shape;265;p2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513" b="3523"/>
          <a:stretch/>
        </p:blipFill>
        <p:spPr>
          <a:xfrm>
            <a:off x="5611725" y="571500"/>
            <a:ext cx="2960925" cy="42639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4093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Global Impact: Expansion, recognition, global influence</a:t>
            </a:r>
            <a:endParaRPr sz="2020"/>
          </a:p>
        </p:txBody>
      </p:sp>
      <p:sp>
        <p:nvSpPr>
          <p:cNvPr id="271" name="Google Shape;271;p28"/>
          <p:cNvSpPr txBox="1">
            <a:spLocks noGrp="1"/>
          </p:cNvSpPr>
          <p:nvPr>
            <p:ph type="body" idx="1"/>
          </p:nvPr>
        </p:nvSpPr>
        <p:spPr>
          <a:xfrm>
            <a:off x="566250" y="1149575"/>
            <a:ext cx="4093500" cy="35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Expansion: Expanded to Tanzania, India, Eastern Europe, and Afghanistan, demonstrating its adaptability to diverse markets.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Model: Serves as an inspiration for mobile money platforms worldwide, influencing the development of digital financial services.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Recognition</a:t>
            </a:r>
            <a:r>
              <a:rPr lang="en-GB"/>
              <a:t>: Received accolades from GSMA, the World Bank, and MIT Technology Review, acknowledging its transformative impact.</a:t>
            </a:r>
            <a:endParaRPr/>
          </a:p>
        </p:txBody>
      </p:sp>
      <p:pic>
        <p:nvPicPr>
          <p:cNvPr id="272" name="Google Shape;272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513" b="3523"/>
          <a:stretch/>
        </p:blipFill>
        <p:spPr>
          <a:xfrm>
            <a:off x="5181800" y="166700"/>
            <a:ext cx="3390849" cy="4883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>
            <a:spLocks noGrp="1"/>
          </p:cNvSpPr>
          <p:nvPr>
            <p:ph type="title"/>
          </p:nvPr>
        </p:nvSpPr>
        <p:spPr>
          <a:xfrm>
            <a:off x="3531375" y="445025"/>
            <a:ext cx="5106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Future Developments: AI, analytics, new financial services</a:t>
            </a:r>
            <a:endParaRPr sz="2020"/>
          </a:p>
        </p:txBody>
      </p:sp>
      <p:sp>
        <p:nvSpPr>
          <p:cNvPr id="278" name="Google Shape;278;p29"/>
          <p:cNvSpPr txBox="1">
            <a:spLocks noGrp="1"/>
          </p:cNvSpPr>
          <p:nvPr>
            <p:ph type="body" idx="1"/>
          </p:nvPr>
        </p:nvSpPr>
        <p:spPr>
          <a:xfrm>
            <a:off x="3531375" y="1077925"/>
            <a:ext cx="5106900" cy="32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there's any paragraph that should go before the points, add it in this field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Integration: Planned integration with AI and cloud services to enhance efficiency and personalization.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Analytics: Leveraging advanced analytics for risk scoring and personalized financial advice to improve user experience.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Expansion</a:t>
            </a:r>
            <a:r>
              <a:rPr lang="en-GB"/>
              <a:t>: Exploring expansion to insurance, investments, and cross-border payments to offer a comprehensive suite of services.</a:t>
            </a:r>
            <a:endParaRPr/>
          </a:p>
        </p:txBody>
      </p:sp>
      <p:pic>
        <p:nvPicPr>
          <p:cNvPr id="279" name="Google Shape;279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08" b="317"/>
          <a:stretch/>
        </p:blipFill>
        <p:spPr>
          <a:xfrm>
            <a:off x="573075" y="286725"/>
            <a:ext cx="2715750" cy="47228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4093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Lessons for IT Professionals: Design, security, innovation</a:t>
            </a:r>
            <a:endParaRPr sz="2020"/>
          </a:p>
        </p:txBody>
      </p:sp>
      <p:sp>
        <p:nvSpPr>
          <p:cNvPr id="285" name="Google Shape;285;p30"/>
          <p:cNvSpPr txBox="1">
            <a:spLocks noGrp="1"/>
          </p:cNvSpPr>
          <p:nvPr>
            <p:ph type="body" idx="1"/>
          </p:nvPr>
        </p:nvSpPr>
        <p:spPr>
          <a:xfrm>
            <a:off x="566250" y="1149575"/>
            <a:ext cx="4093500" cy="35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there's any paragraph that should go before the points, add it in this field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User-Centric Design: Emphasizes the importance of focusing on accessibility and simplicity to enhance user adoption and satisfaction.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Security: Prioritizes safe and reliable transactions to build trust and maintain the integrity of the mobile money system.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Innovation for Impact: Showcases how technology can solve real-world problems and improve lives through innovative solutions.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Takeaways</a:t>
            </a:r>
            <a:r>
              <a:rPr lang="en-GB"/>
              <a:t>: Underscores the importance of context-driven IT solutions in addressing specific needsand challenges.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>
            <a:spLocks noGrp="1"/>
          </p:cNvSpPr>
          <p:nvPr>
            <p:ph type="title"/>
          </p:nvPr>
        </p:nvSpPr>
        <p:spPr>
          <a:xfrm>
            <a:off x="93750" y="485200"/>
            <a:ext cx="3536100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120"/>
              <a:t>Conclusion: </a:t>
            </a:r>
            <a:endParaRPr sz="4120"/>
          </a:p>
        </p:txBody>
      </p:sp>
      <p:sp>
        <p:nvSpPr>
          <p:cNvPr id="291" name="Google Shape;291;p31"/>
          <p:cNvSpPr txBox="1">
            <a:spLocks noGrp="1"/>
          </p:cNvSpPr>
          <p:nvPr>
            <p:ph type="body" idx="1"/>
          </p:nvPr>
        </p:nvSpPr>
        <p:spPr>
          <a:xfrm>
            <a:off x="3321850" y="642950"/>
            <a:ext cx="5103300" cy="27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M-Pesa Revolution: M-Pesa revolutionized mobile financial services, providing access to millions previously excluded from the formal banking sector.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IT's power: Proved the power of IT in addressing societal challenges, demonstrating the potential for technology to drive positive change.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b="1"/>
              <a:t>Global Inspiration</a:t>
            </a:r>
            <a:r>
              <a:rPr lang="en-GB"/>
              <a:t>: Inspired global digital finance innovation, serving as a model for mobile money systems worldwide.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>
            <a:spLocks noGrp="1"/>
          </p:cNvSpPr>
          <p:nvPr>
            <p:ph type="title"/>
          </p:nvPr>
        </p:nvSpPr>
        <p:spPr>
          <a:xfrm>
            <a:off x="566250" y="293700"/>
            <a:ext cx="777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References: </a:t>
            </a:r>
            <a:endParaRPr/>
          </a:p>
        </p:txBody>
      </p:sp>
      <p:sp>
        <p:nvSpPr>
          <p:cNvPr id="297" name="Google Shape;297;p32"/>
          <p:cNvSpPr txBox="1">
            <a:spLocks noGrp="1"/>
          </p:cNvSpPr>
          <p:nvPr>
            <p:ph type="body" idx="1"/>
          </p:nvPr>
        </p:nvSpPr>
        <p:spPr>
          <a:xfrm>
            <a:off x="566250" y="920075"/>
            <a:ext cx="7777200" cy="27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Safaricom M-Pesa Annual Reports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Jack &amp; Suri (2014), </a:t>
            </a:r>
            <a:r>
              <a:rPr lang="en-GB" i="1"/>
              <a:t>Science Magazine</a:t>
            </a:r>
            <a:endParaRPr i="1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World Bank Financial Inclusion Reports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GSMA Mobile Money Metrics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 txBox="1">
            <a:spLocks noGrp="1"/>
          </p:cNvSpPr>
          <p:nvPr>
            <p:ph type="title"/>
          </p:nvPr>
        </p:nvSpPr>
        <p:spPr>
          <a:xfrm>
            <a:off x="1369900" y="882325"/>
            <a:ext cx="4093500" cy="5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303" name="Google Shape;303;p33"/>
          <p:cNvSpPr txBox="1">
            <a:spLocks noGrp="1"/>
          </p:cNvSpPr>
          <p:nvPr>
            <p:ph type="body" idx="1"/>
          </p:nvPr>
        </p:nvSpPr>
        <p:spPr>
          <a:xfrm>
            <a:off x="2598550" y="1620750"/>
            <a:ext cx="2864700" cy="12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300"/>
              <a:t>for your attention.</a:t>
            </a:r>
            <a:endParaRPr sz="2300"/>
          </a:p>
        </p:txBody>
      </p:sp>
      <p:pic>
        <p:nvPicPr>
          <p:cNvPr id="304" name="Google Shape;304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207" b="2207"/>
          <a:stretch/>
        </p:blipFill>
        <p:spPr>
          <a:xfrm>
            <a:off x="5343150" y="294675"/>
            <a:ext cx="3229475" cy="47818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990</Words>
  <Application>Microsoft Office PowerPoint</Application>
  <PresentationFormat>On-screen Show (16:9)</PresentationFormat>
  <Paragraphs>81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Montserrat</vt:lpstr>
      <vt:lpstr>Open Sans Medium</vt:lpstr>
      <vt:lpstr>Lato</vt:lpstr>
      <vt:lpstr>Hanken Grotesk</vt:lpstr>
      <vt:lpstr>Focus</vt:lpstr>
      <vt:lpstr>Title:Mobile Money Systems  Subtitle: M-Pesa as an IT Innovation  Sharon Mwaka  C027-01-1034/2022  BBIT  DATE:10-12-2025 </vt:lpstr>
      <vt:lpstr>Introduction: Define mobile money systems, describe M-Pesa’s role and IT importance</vt:lpstr>
      <vt:lpstr>Historical Background: Timeline from concept to global reach</vt:lpstr>
      <vt:lpstr>Technical Architecture: SMS-based system, agent network,            mobile wallet, and security</vt:lpstr>
      <vt:lpstr>Key Features &amp; Services: P2P transfers, bill payments, loans, merchant services</vt:lpstr>
      <vt:lpstr>Impact &amp; Statistics: User base, transaction volume, financial inclusion, social impact</vt:lpstr>
      <vt:lpstr>Business Model: Revenue sources, advantages</vt:lpstr>
      <vt:lpstr>IT Infrastructure: Databases, encryption, compliance</vt:lpstr>
      <vt:lpstr>Challenges &amp; Solutions: Regulation, cybersecurity, competition</vt:lpstr>
      <vt:lpstr>Global Impact: Expansion, recognition, global influence</vt:lpstr>
      <vt:lpstr>Future Developments: AI, analytics, new financial services</vt:lpstr>
      <vt:lpstr>Lessons for IT Professionals: Design, security, innovation</vt:lpstr>
      <vt:lpstr>Conclusion: </vt:lpstr>
      <vt:lpstr>References: 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Title:Mobile Money Systems  Subtitle: M-Pesa as an IT Innovation  Sharon Mwaka  C027-01-1034/2022  BBIT  DATE:10-12-2025</dc:title>
  <dc:creator>MWAKA MWADZUA</dc:creator>
  <cp:lastModifiedBy>Microsoft account</cp:lastModifiedBy>
  <cp:revision>2</cp:revision>
  <dcterms:modified xsi:type="dcterms:W3CDTF">2026-01-29T21:01:12Z</dcterms:modified>
</cp:coreProperties>
</file>